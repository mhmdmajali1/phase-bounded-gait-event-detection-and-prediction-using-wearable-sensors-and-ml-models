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57" r:id="rId3"/>
    <p:sldId id="258" r:id="rId4"/>
    <p:sldId id="260" r:id="rId5"/>
    <p:sldId id="262" r:id="rId6"/>
    <p:sldId id="256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3BFB2-FC54-47D1-9E93-30005A0BBC9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029E8-FF9F-49E6-9186-FF3126390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6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This project focuses on gait phase classification using wearable sensors, combining biomechanical modeling with machine learning.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2371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8F23E-5A3C-6460-242F-392A0DC16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C6ABB-8C89-1D30-16ED-26E79AADB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047CA-BDB0-3D0D-BA74-58EAD595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4CFED-EA34-4686-455D-226245D5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E1E8D-4636-2AE6-45FB-1394FCA1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9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A689-1E01-114F-7F79-8E7F0BB3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885FA-9817-F521-1861-7A0C8B0FE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93BE3-4688-6A67-4B7D-2751D4F7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99241-5546-EB83-6207-EA9539D6F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58E33-482A-0952-D565-12DC14E3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6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6C93-C473-738D-2D23-23019170B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BC9C9-1413-ABB6-0383-00B4B78A3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4D790-8BA3-E50D-A523-E20181B3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E1E0D-8B3F-2010-B3E1-6ECE1A28A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ED2AA-96C3-DFB0-07F5-18C001CA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07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264F-A62B-43AA-1FCA-A5A640C1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3E52A-1775-5EA5-D3C8-2C4C26A51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FF450-E127-8A84-DF1A-216E31A54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E4916-7C1E-FB1E-C8CC-88845ED5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BA62C-231B-A65E-F25B-649CB0F6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C9EF1-2D81-5E59-13B6-DCE146DB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9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8DC4-95AA-A752-6302-7CA1939B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8B98C-C186-519E-82AA-36E4E5E80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AACB9-91A7-5467-AB60-3950FA4BC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6B224-B8DA-1430-8570-099CCDF41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D6878-BD67-BA25-B92D-CC8744FEC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554D5-154D-81D7-B237-B7F597414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5CCD0-8C35-CB44-B0AB-8BDD8E79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5D075-D60A-1068-DD00-F94A4376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4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A5087-5C21-B3B2-87BE-F13BCA7E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0349D-1090-7AE0-8423-655BD694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9A6E4-D153-ABEC-1964-AAB2B130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296B9-BC05-1CD7-89B2-C85A07B8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3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8CDAE-D340-BD74-DD3E-2C6287BF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55899-B8A9-2C45-2674-B9996E85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6F159-E7C2-589A-FDE7-60319FA8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6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7F50-CBAD-9D7D-6B49-E48F102C5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A13D7-B02B-BB3C-8C38-ABD4E406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6D69E-5929-2168-7A59-9D4DB8E88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A5D13-6640-34EE-D52E-2EE608ED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F330A-A578-82D5-F1DB-447A8E00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D0CF4-B0F4-E19B-CD29-45291C54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7EB5-B46A-F347-F4A3-E8EE147F8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F0315-ED23-3216-B5EB-C73298A5B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90634-164F-9338-74C3-B3157F7F1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5858D-D367-64AB-0EEE-D3EF5838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E1E24-9069-6FB0-A849-7C4E45C2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25E32-C06D-C9F5-F623-E0F4770A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7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55F3-54F4-CC2F-DAA5-8D501F8F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886FC-E4C6-3AE1-093E-E9CFD8C0C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09CE1-FB1C-C42E-0ACF-D494977C8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4243A-BB8C-7E2F-3BB2-B544B649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BF00C-13A0-9880-B6F5-1626CF31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1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889F4-3A7D-AE81-63E6-72F3A5DEC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858B7-3C01-472C-A8FF-1EB8C729F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A46A4-7ADE-517F-C403-C1A01F9E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A08C8-5FB3-E97B-6B25-289735AC7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6CF4B-33D5-6E20-4458-83C0DA29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47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41B3B-143E-5C4E-22B1-DD8B72B61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A267D-AD28-6F13-7709-73DB0F676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7DC47-A520-C32B-FB2B-59E1A3832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1D3FF-0C56-4FE0-9D59-570A5086651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13C12-E966-5A35-6919-AEDA776FB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BFB35-06FF-279F-E5BD-25EA3AE36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AF872-9F99-4370-BEFE-DA9ACF793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4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4618" y="0"/>
            <a:ext cx="12192000" cy="6858001"/>
          </a:xfrm>
          <a:custGeom>
            <a:avLst/>
            <a:gdLst/>
            <a:ahLst/>
            <a:cxnLst/>
            <a:rect l="l" t="t" r="r" b="b"/>
            <a:pathLst>
              <a:path w="19660668" h="10287000">
                <a:moveTo>
                  <a:pt x="0" y="0"/>
                </a:moveTo>
                <a:lnTo>
                  <a:pt x="19660668" y="0"/>
                </a:lnTo>
                <a:lnTo>
                  <a:pt x="196606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alphaModFix amt="37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11" name="TextBox 11"/>
          <p:cNvSpPr txBox="1"/>
          <p:nvPr/>
        </p:nvSpPr>
        <p:spPr>
          <a:xfrm>
            <a:off x="1863862" y="1035537"/>
            <a:ext cx="7844027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 b="1" dirty="0">
                <a:latin typeface="Candal"/>
                <a:ea typeface="Candal"/>
                <a:cs typeface="Candal"/>
                <a:sym typeface="Candal"/>
              </a:rPr>
              <a:t>PHASE-BOUNDED GAIT EVENT DETECTION AND PREDICTION</a:t>
            </a:r>
          </a:p>
          <a:p>
            <a:pPr algn="ctr">
              <a:lnSpc>
                <a:spcPts val="3200"/>
              </a:lnSpc>
            </a:pPr>
            <a:r>
              <a:rPr lang="en-US" sz="3200" b="1" dirty="0">
                <a:latin typeface="Candal"/>
                <a:ea typeface="Candal"/>
                <a:cs typeface="Candal"/>
                <a:sym typeface="Candal"/>
              </a:rPr>
              <a:t> DURING STW TRANSITION USING MACHINE LEARNING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8145" y="3734590"/>
            <a:ext cx="5444531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2667" b="1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by: Mohammad Almajali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63873" y="3734590"/>
            <a:ext cx="527134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2667" b="1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Supervised by: Dr. Hani Muhsen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" y="4935859"/>
            <a:ext cx="447220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2667" b="1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Department: Mechatronics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71040" y="4935859"/>
            <a:ext cx="6119101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2667" b="1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University: German Jordanian University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D6DCCF0-27F7-E1E8-9C59-8740FDEB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>
            <a:extLst>
              <a:ext uri="{FF2B5EF4-FFF2-40B4-BE49-F238E27FC236}">
                <a16:creationId xmlns:a16="http://schemas.microsoft.com/office/drawing/2014/main" id="{F83FFF41-F18A-484E-8455-FB1EC3E1815B}"/>
              </a:ext>
            </a:extLst>
          </p:cNvPr>
          <p:cNvSpPr/>
          <p:nvPr/>
        </p:nvSpPr>
        <p:spPr>
          <a:xfrm>
            <a:off x="3101524" y="1163295"/>
            <a:ext cx="4138811" cy="5611272"/>
          </a:xfrm>
          <a:custGeom>
            <a:avLst/>
            <a:gdLst/>
            <a:ahLst/>
            <a:cxnLst/>
            <a:rect l="l" t="t" r="r" b="b"/>
            <a:pathLst>
              <a:path w="4138811" h="5611272">
                <a:moveTo>
                  <a:pt x="0" y="0"/>
                </a:moveTo>
                <a:lnTo>
                  <a:pt x="4138811" y="0"/>
                </a:lnTo>
                <a:lnTo>
                  <a:pt x="4138811" y="5611272"/>
                </a:lnTo>
                <a:lnTo>
                  <a:pt x="0" y="56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44A36E-B87D-C45E-9212-9DEF2CD038DA}"/>
              </a:ext>
            </a:extLst>
          </p:cNvPr>
          <p:cNvCxnSpPr/>
          <p:nvPr/>
        </p:nvCxnSpPr>
        <p:spPr>
          <a:xfrm>
            <a:off x="4614091" y="5596826"/>
            <a:ext cx="34290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580AE8-C6EA-7F75-DC39-998A5375C982}"/>
              </a:ext>
            </a:extLst>
          </p:cNvPr>
          <p:cNvSpPr txBox="1"/>
          <p:nvPr/>
        </p:nvSpPr>
        <p:spPr>
          <a:xfrm>
            <a:off x="8107858" y="5670793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Foot IMU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8F4E6A-1CDD-E947-4898-5DCE060081BE}"/>
              </a:ext>
            </a:extLst>
          </p:cNvPr>
          <p:cNvCxnSpPr/>
          <p:nvPr/>
        </p:nvCxnSpPr>
        <p:spPr>
          <a:xfrm flipV="1">
            <a:off x="4842691" y="1647165"/>
            <a:ext cx="3048000" cy="977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46BA318-4BB6-198D-BA73-13FEEC7E0B8D}"/>
              </a:ext>
            </a:extLst>
          </p:cNvPr>
          <p:cNvSpPr txBox="1"/>
          <p:nvPr/>
        </p:nvSpPr>
        <p:spPr>
          <a:xfrm>
            <a:off x="7890691" y="1416332"/>
            <a:ext cx="2112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sEMG</a:t>
            </a:r>
            <a:r>
              <a:rPr lang="en-US" sz="2400" dirty="0">
                <a:solidFill>
                  <a:srgbClr val="FF0000"/>
                </a:solidFill>
              </a:rPr>
              <a:t> Sensor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C08F77-D317-4668-D910-3C641B31FF25}"/>
              </a:ext>
            </a:extLst>
          </p:cNvPr>
          <p:cNvSpPr txBox="1"/>
          <p:nvPr/>
        </p:nvSpPr>
        <p:spPr>
          <a:xfrm>
            <a:off x="3648890" y="290354"/>
            <a:ext cx="31873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System Overview</a:t>
            </a:r>
          </a:p>
        </p:txBody>
      </p:sp>
    </p:spTree>
    <p:extLst>
      <p:ext uri="{BB962C8B-B14F-4D97-AF65-F5344CB8AC3E}">
        <p14:creationId xmlns:p14="http://schemas.microsoft.com/office/powerpoint/2010/main" val="607300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34A036-BB79-CA44-679C-E9E4117AD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41" y="2084513"/>
            <a:ext cx="4396968" cy="3461281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490A7F8E-10ED-C621-27C6-784D2687FDB3}"/>
              </a:ext>
            </a:extLst>
          </p:cNvPr>
          <p:cNvSpPr/>
          <p:nvPr/>
        </p:nvSpPr>
        <p:spPr>
          <a:xfrm>
            <a:off x="5562600" y="3586553"/>
            <a:ext cx="7620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88DD8C-AD5B-FBDD-9CAF-0720FD326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092" y="2109121"/>
            <a:ext cx="4334450" cy="3412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EBB632-A156-433E-0F3B-480ADBAD0D8E}"/>
              </a:ext>
            </a:extLst>
          </p:cNvPr>
          <p:cNvSpPr txBox="1"/>
          <p:nvPr/>
        </p:nvSpPr>
        <p:spPr>
          <a:xfrm>
            <a:off x="4090850" y="79281"/>
            <a:ext cx="3100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Signal Processing</a:t>
            </a:r>
          </a:p>
        </p:txBody>
      </p:sp>
    </p:spTree>
    <p:extLst>
      <p:ext uri="{BB962C8B-B14F-4D97-AF65-F5344CB8AC3E}">
        <p14:creationId xmlns:p14="http://schemas.microsoft.com/office/powerpoint/2010/main" val="284548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CC464B-5FDA-F719-48EC-1E5A7A45121E}"/>
              </a:ext>
            </a:extLst>
          </p:cNvPr>
          <p:cNvSpPr txBox="1"/>
          <p:nvPr/>
        </p:nvSpPr>
        <p:spPr>
          <a:xfrm>
            <a:off x="4090850" y="79281"/>
            <a:ext cx="33811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Feature Extraction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72B9CB-B0F5-A43A-A616-187BD5CCC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185028"/>
              </p:ext>
            </p:extLst>
          </p:nvPr>
        </p:nvGraphicFramePr>
        <p:xfrm>
          <a:off x="1054100" y="939800"/>
          <a:ext cx="10083800" cy="5134368"/>
        </p:xfrm>
        <a:graphic>
          <a:graphicData uri="http://schemas.openxmlformats.org/drawingml/2006/table">
            <a:tbl>
              <a:tblPr/>
              <a:tblGrid>
                <a:gridCol w="2520950">
                  <a:extLst>
                    <a:ext uri="{9D8B030D-6E8A-4147-A177-3AD203B41FA5}">
                      <a16:colId xmlns:a16="http://schemas.microsoft.com/office/drawing/2014/main" val="4177712513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698630308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1063285892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418203042"/>
                    </a:ext>
                  </a:extLst>
                </a:gridCol>
              </a:tblGrid>
              <a:tr h="38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Feature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Type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Formula / Definition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What it Represents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509630"/>
                  </a:ext>
                </a:extLst>
              </a:tr>
              <a:tr h="665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RMS (Root Mean Square)</a:t>
                      </a:r>
                      <a:endParaRPr lang="en-US" sz="16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Time-domain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√(mean(x²))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Signal power / muscle contraction strength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218907"/>
                  </a:ext>
                </a:extLst>
              </a:tr>
              <a:tr h="38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IEMG (Integrated EMG)</a:t>
                      </a:r>
                      <a:endParaRPr lang="en-US" sz="16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Time-domain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/>
                        <a:t>Σ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x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263288"/>
                  </a:ext>
                </a:extLst>
              </a:tr>
              <a:tr h="665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MAV (Mean Absolute Value)</a:t>
                      </a:r>
                      <a:endParaRPr lang="en-US" sz="16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Time-domain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mean(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x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406893"/>
                  </a:ext>
                </a:extLst>
              </a:tr>
              <a:tr h="38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WL (Waveform Length)</a:t>
                      </a:r>
                      <a:endParaRPr lang="en-US" sz="16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Time-domain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/>
                        <a:t>Σ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/>
                        <a:t>x(n) − x(n−1)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534275"/>
                  </a:ext>
                </a:extLst>
              </a:tr>
              <a:tr h="665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ZC (Zero Crossings)</a:t>
                      </a:r>
                      <a:endParaRPr lang="en-US" sz="16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Time-domain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Number of sign changes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Frequency-related activity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741540"/>
                  </a:ext>
                </a:extLst>
              </a:tr>
              <a:tr h="665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SSC (Slope Sign Changes)</a:t>
                      </a:r>
                      <a:endParaRPr lang="en-US" sz="16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Time-domain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Changes in slope direction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Signal shape complexity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682211"/>
                  </a:ext>
                </a:extLst>
              </a:tr>
              <a:tr h="665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PF (Peak Frequency)</a:t>
                      </a:r>
                      <a:endParaRPr lang="en-US" sz="16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Frequency-domain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Frequency at max PSD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Dominant muscle firing frequency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947082"/>
                  </a:ext>
                </a:extLst>
              </a:tr>
              <a:tr h="665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TP (Total Power)</a:t>
                      </a:r>
                      <a:endParaRPr lang="en-US" sz="1600"/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Frequency-domain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∫ PSD(f) df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Overall energy in frequency domain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775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37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C2AC1C-5324-28FE-F619-3741235F7F13}"/>
              </a:ext>
            </a:extLst>
          </p:cNvPr>
          <p:cNvSpPr txBox="1"/>
          <p:nvPr/>
        </p:nvSpPr>
        <p:spPr>
          <a:xfrm>
            <a:off x="4090850" y="79281"/>
            <a:ext cx="33811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Machine Learning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A498BE-B313-D556-1538-1565A4809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1" y="1398079"/>
            <a:ext cx="6017765" cy="40618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F18E37-6714-9F60-0127-F7774ABCE406}"/>
              </a:ext>
            </a:extLst>
          </p:cNvPr>
          <p:cNvSpPr txBox="1"/>
          <p:nvPr/>
        </p:nvSpPr>
        <p:spPr>
          <a:xfrm>
            <a:off x="-93135" y="2153303"/>
            <a:ext cx="653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(TO)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11F2BB-936D-8E42-A6DD-C2D1B5D04960}"/>
              </a:ext>
            </a:extLst>
          </p:cNvPr>
          <p:cNvSpPr txBox="1"/>
          <p:nvPr/>
        </p:nvSpPr>
        <p:spPr>
          <a:xfrm>
            <a:off x="-200534" y="3574176"/>
            <a:ext cx="86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>
                <a:solidFill>
                  <a:srgbClr val="FF0000"/>
                </a:solidFill>
              </a:rPr>
              <a:t>MSw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837E5-F15D-A24A-25BC-78A4643AB1C8}"/>
              </a:ext>
            </a:extLst>
          </p:cNvPr>
          <p:cNvSpPr txBox="1"/>
          <p:nvPr/>
        </p:nvSpPr>
        <p:spPr>
          <a:xfrm>
            <a:off x="-93135" y="4464033"/>
            <a:ext cx="700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(HS)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B56852-7223-9FEC-5203-D2025A87B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299" y="1398080"/>
            <a:ext cx="6050701" cy="40618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A62577-2267-9DA8-0374-80EF5C54F8C7}"/>
              </a:ext>
            </a:extLst>
          </p:cNvPr>
          <p:cNvSpPr txBox="1"/>
          <p:nvPr/>
        </p:nvSpPr>
        <p:spPr>
          <a:xfrm>
            <a:off x="5947049" y="2153303"/>
            <a:ext cx="653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(TO)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0D1AB-FA27-6010-4B78-CF8E6B03E826}"/>
              </a:ext>
            </a:extLst>
          </p:cNvPr>
          <p:cNvSpPr txBox="1"/>
          <p:nvPr/>
        </p:nvSpPr>
        <p:spPr>
          <a:xfrm>
            <a:off x="5839650" y="3574176"/>
            <a:ext cx="86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>
                <a:solidFill>
                  <a:srgbClr val="FF0000"/>
                </a:solidFill>
              </a:rPr>
              <a:t>MSw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8222DA-708E-4293-87A4-FED6D74C3D48}"/>
              </a:ext>
            </a:extLst>
          </p:cNvPr>
          <p:cNvSpPr txBox="1"/>
          <p:nvPr/>
        </p:nvSpPr>
        <p:spPr>
          <a:xfrm>
            <a:off x="5900272" y="4464033"/>
            <a:ext cx="700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(HS)</a:t>
            </a:r>
          </a:p>
        </p:txBody>
      </p:sp>
    </p:spTree>
    <p:extLst>
      <p:ext uri="{BB962C8B-B14F-4D97-AF65-F5344CB8AC3E}">
        <p14:creationId xmlns:p14="http://schemas.microsoft.com/office/powerpoint/2010/main" val="340149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06EDD-EE8A-A433-6B44-C48565467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02" y="428897"/>
            <a:ext cx="11625396" cy="600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5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63EC9A99-CD5E-DD06-A605-FDEC1858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45449" y="6564709"/>
            <a:ext cx="1422400" cy="24341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726F317-AC6D-E1BF-C260-943B89F3CB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1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0" y="0"/>
            <a:ext cx="12165351" cy="6857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206</Words>
  <Application>Microsoft Office PowerPoint</Application>
  <PresentationFormat>Widescreen</PresentationFormat>
  <Paragraphs>60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Candal</vt:lpstr>
      <vt:lpstr>Glacial Indifference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Almajali, Mohammed | Student</dc:creator>
  <cp:lastModifiedBy>Almajali, Mohammed | Student</cp:lastModifiedBy>
  <cp:revision>1</cp:revision>
  <dcterms:created xsi:type="dcterms:W3CDTF">2026-04-02T16:30:59Z</dcterms:created>
  <dcterms:modified xsi:type="dcterms:W3CDTF">2026-04-02T16:44:40Z</dcterms:modified>
</cp:coreProperties>
</file>